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28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58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5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0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93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707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474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78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12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35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087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2003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637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731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5664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070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230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66388-F3A0-40CD-A7DD-91C8F31A8303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C48768-DA22-481B-AB27-60AC5FF5D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445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68668-1938-CFAE-5869-2748E74960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7038" y="1182919"/>
            <a:ext cx="6132990" cy="1825096"/>
          </a:xfrm>
        </p:spPr>
        <p:txBody>
          <a:bodyPr>
            <a:normAutofit/>
          </a:bodyPr>
          <a:lstStyle/>
          <a:p>
            <a:r>
              <a:rPr lang="en-US" dirty="0"/>
              <a:t>Uno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1CB752-5736-BBF9-DF9A-49EFBC061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64352" y="3087915"/>
            <a:ext cx="6132990" cy="685800"/>
          </a:xfrm>
        </p:spPr>
        <p:txBody>
          <a:bodyPr>
            <a:normAutofit/>
          </a:bodyPr>
          <a:lstStyle/>
          <a:p>
            <a:r>
              <a:rPr lang="en-US" dirty="0"/>
              <a:t>By: Erik Dunlap and Kaeden Daly</a:t>
            </a:r>
          </a:p>
        </p:txBody>
      </p:sp>
      <p:pic>
        <p:nvPicPr>
          <p:cNvPr id="1030" name="Picture 6" descr="UNO (@realUNOgame) / Posts / X">
            <a:extLst>
              <a:ext uri="{FF2B5EF4-FFF2-40B4-BE49-F238E27FC236}">
                <a16:creationId xmlns:a16="http://schemas.microsoft.com/office/drawing/2014/main" id="{12F23133-5ECF-915A-0295-EFC5B276DE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" b="4"/>
          <a:stretch>
            <a:fillRect/>
          </a:stretch>
        </p:blipFill>
        <p:spPr bwMode="auto">
          <a:xfrm>
            <a:off x="1528745" y="1904998"/>
            <a:ext cx="2662321" cy="2662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385FFA9-3B5A-63BE-8E7F-12370C5A528B}"/>
              </a:ext>
            </a:extLst>
          </p:cNvPr>
          <p:cNvSpPr txBox="1">
            <a:spLocks/>
          </p:cNvSpPr>
          <p:nvPr/>
        </p:nvSpPr>
        <p:spPr>
          <a:xfrm>
            <a:off x="4437038" y="1904998"/>
            <a:ext cx="1201761" cy="27432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UML</a:t>
            </a:r>
          </a:p>
        </p:txBody>
      </p:sp>
    </p:spTree>
    <p:extLst>
      <p:ext uri="{BB962C8B-B14F-4D97-AF65-F5344CB8AC3E}">
        <p14:creationId xmlns:p14="http://schemas.microsoft.com/office/powerpoint/2010/main" val="199308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E32F16-0180-DC2D-BF31-0ACCFAB390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188217"/>
              </p:ext>
            </p:extLst>
          </p:nvPr>
        </p:nvGraphicFramePr>
        <p:xfrm>
          <a:off x="2079171" y="680720"/>
          <a:ext cx="4016828" cy="274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6828">
                  <a:extLst>
                    <a:ext uri="{9D8B030D-6E8A-4147-A177-3AD203B41FA5}">
                      <a16:colId xmlns:a16="http://schemas.microsoft.com/office/drawing/2014/main" val="9295715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2177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-rank: int</a:t>
                      </a:r>
                    </a:p>
                    <a:p>
                      <a:r>
                        <a:rPr lang="en-US" dirty="0"/>
                        <a:t>-suit: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1516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fixWildSuit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getRank</a:t>
                      </a:r>
                      <a:r>
                        <a:rPr lang="en-US" dirty="0"/>
                        <a:t>() const: int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getSuit</a:t>
                      </a:r>
                      <a:r>
                        <a:rPr lang="en-US" dirty="0"/>
                        <a:t>() const: int</a:t>
                      </a:r>
                    </a:p>
                    <a:p>
                      <a:r>
                        <a:rPr lang="en-US" dirty="0"/>
                        <a:t>+virtual </a:t>
                      </a:r>
                      <a:r>
                        <a:rPr lang="en-US" dirty="0" err="1"/>
                        <a:t>changeWild</a:t>
                      </a:r>
                      <a:r>
                        <a:rPr lang="en-US" dirty="0"/>
                        <a:t>: void</a:t>
                      </a:r>
                    </a:p>
                    <a:p>
                      <a:r>
                        <a:rPr lang="en-US" dirty="0"/>
                        <a:t>+virtual </a:t>
                      </a:r>
                      <a:r>
                        <a:rPr lang="en-US" dirty="0" err="1"/>
                        <a:t>getPlus</a:t>
                      </a:r>
                      <a:r>
                        <a:rPr lang="en-US" dirty="0"/>
                        <a:t>() const: bool</a:t>
                      </a:r>
                    </a:p>
                    <a:p>
                      <a:r>
                        <a:rPr lang="en-US" dirty="0"/>
                        <a:t>+virtual </a:t>
                      </a:r>
                      <a:r>
                        <a:rPr lang="en-US" dirty="0" err="1"/>
                        <a:t>getFileName</a:t>
                      </a:r>
                      <a:r>
                        <a:rPr lang="en-US" dirty="0"/>
                        <a:t>() const: string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834895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4E9B59-2997-37DB-837C-74C04CA30F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332883"/>
              </p:ext>
            </p:extLst>
          </p:nvPr>
        </p:nvGraphicFramePr>
        <p:xfrm>
          <a:off x="366485" y="4462661"/>
          <a:ext cx="3726543" cy="220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543">
                  <a:extLst>
                    <a:ext uri="{9D8B030D-6E8A-4147-A177-3AD203B41FA5}">
                      <a16:colId xmlns:a16="http://schemas.microsoft.com/office/drawing/2014/main" val="12402569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BasicCard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11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-plus: bool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20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BasicCard</a:t>
                      </a:r>
                      <a:r>
                        <a:rPr lang="en-US" dirty="0"/>
                        <a:t>()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BasicCard</a:t>
                      </a:r>
                      <a:r>
                        <a:rPr lang="en-US" dirty="0"/>
                        <a:t>()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getPlus</a:t>
                      </a:r>
                      <a:r>
                        <a:rPr lang="en-US" dirty="0"/>
                        <a:t>() const: bool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getFileName</a:t>
                      </a:r>
                      <a:r>
                        <a:rPr lang="en-US" dirty="0"/>
                        <a:t>() const: string</a:t>
                      </a:r>
                    </a:p>
                    <a:p>
                      <a:r>
                        <a:rPr lang="en-US" dirty="0"/>
                        <a:t>+friend operator&lt;&lt;(): </a:t>
                      </a:r>
                      <a:r>
                        <a:rPr lang="en-US" dirty="0" err="1"/>
                        <a:t>ostream</a:t>
                      </a:r>
                      <a:r>
                        <a:rPr lang="en-US" dirty="0"/>
                        <a:t>&amp;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2459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7FACB1E-C3B9-EFED-4800-94C4CEB28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000763"/>
              </p:ext>
            </p:extLst>
          </p:nvPr>
        </p:nvGraphicFramePr>
        <p:xfrm>
          <a:off x="4232728" y="4462661"/>
          <a:ext cx="3726543" cy="220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543">
                  <a:extLst>
                    <a:ext uri="{9D8B030D-6E8A-4147-A177-3AD203B41FA5}">
                      <a16:colId xmlns:a16="http://schemas.microsoft.com/office/drawing/2014/main" val="12402569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WildCard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11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-plus: bool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20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WildCard</a:t>
                      </a:r>
                      <a:r>
                        <a:rPr lang="en-US" dirty="0"/>
                        <a:t>()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changeWild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getPlus</a:t>
                      </a:r>
                      <a:r>
                        <a:rPr lang="en-US" dirty="0"/>
                        <a:t>() const: bool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getFileName</a:t>
                      </a:r>
                      <a:r>
                        <a:rPr lang="en-US" dirty="0"/>
                        <a:t>() const: string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+friend operator&lt;&lt;(): </a:t>
                      </a:r>
                      <a:r>
                        <a:rPr lang="en-US" dirty="0" err="1"/>
                        <a:t>ostream</a:t>
                      </a:r>
                      <a:r>
                        <a:rPr lang="en-US" dirty="0"/>
                        <a:t>&amp;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2459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F0F416F-0420-B0EC-709D-3C72AA6E22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009921"/>
              </p:ext>
            </p:extLst>
          </p:nvPr>
        </p:nvGraphicFramePr>
        <p:xfrm>
          <a:off x="8098970" y="2722637"/>
          <a:ext cx="3726543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543">
                  <a:extLst>
                    <a:ext uri="{9D8B030D-6E8A-4147-A177-3AD203B41FA5}">
                      <a16:colId xmlns:a16="http://schemas.microsoft.com/office/drawing/2014/main" val="12402569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ReverseCard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11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20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ReverseCard</a:t>
                      </a:r>
                      <a:r>
                        <a:rPr lang="en-US" dirty="0"/>
                        <a:t>()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getFileName</a:t>
                      </a:r>
                      <a:r>
                        <a:rPr lang="en-US" dirty="0"/>
                        <a:t>() const: string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+friend operator&lt;&lt;(): </a:t>
                      </a:r>
                      <a:r>
                        <a:rPr lang="en-US" dirty="0" err="1"/>
                        <a:t>ostream</a:t>
                      </a:r>
                      <a:r>
                        <a:rPr lang="en-US" dirty="0"/>
                        <a:t>&amp;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2459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B01867E-3FF7-FC31-F2C2-284BEE250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853557"/>
              </p:ext>
            </p:extLst>
          </p:nvPr>
        </p:nvGraphicFramePr>
        <p:xfrm>
          <a:off x="8098971" y="4462661"/>
          <a:ext cx="3726543" cy="165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6543">
                  <a:extLst>
                    <a:ext uri="{9D8B030D-6E8A-4147-A177-3AD203B41FA5}">
                      <a16:colId xmlns:a16="http://schemas.microsoft.com/office/drawing/2014/main" val="12402569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SkipCard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811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6201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SkipCard</a:t>
                      </a:r>
                      <a:r>
                        <a:rPr lang="en-US" dirty="0"/>
                        <a:t>()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getFileName</a:t>
                      </a:r>
                      <a:r>
                        <a:rPr lang="en-US" dirty="0"/>
                        <a:t>() const: string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+friend operator&lt;&lt;(): </a:t>
                      </a:r>
                      <a:r>
                        <a:rPr lang="en-US" dirty="0" err="1"/>
                        <a:t>ostream</a:t>
                      </a:r>
                      <a:r>
                        <a:rPr lang="en-US" dirty="0"/>
                        <a:t>&amp;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624592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2B5285-7217-2228-0995-562DE1A5E300}"/>
              </a:ext>
            </a:extLst>
          </p:cNvPr>
          <p:cNvCxnSpPr>
            <a:endCxn id="4" idx="2"/>
          </p:cNvCxnSpPr>
          <p:nvPr/>
        </p:nvCxnSpPr>
        <p:spPr>
          <a:xfrm flipV="1">
            <a:off x="2369456" y="3429000"/>
            <a:ext cx="1718129" cy="103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CF79ED9-DAE4-C223-F4C9-11213530212F}"/>
              </a:ext>
            </a:extLst>
          </p:cNvPr>
          <p:cNvCxnSpPr>
            <a:cxnSpLocks/>
            <a:endCxn id="4" idx="2"/>
          </p:cNvCxnSpPr>
          <p:nvPr/>
        </p:nvCxnSpPr>
        <p:spPr>
          <a:xfrm flipH="1" flipV="1">
            <a:off x="4087585" y="3429000"/>
            <a:ext cx="2008414" cy="10336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339731-345E-C7D6-DE09-9CF2851DB819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095999" y="2054860"/>
            <a:ext cx="2002971" cy="24078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C84E619-E62D-DD15-5C15-0D70F523FB32}"/>
              </a:ext>
            </a:extLst>
          </p:cNvPr>
          <p:cNvCxnSpPr>
            <a:cxnSpLocks/>
            <a:stCxn id="7" idx="0"/>
            <a:endCxn id="4" idx="3"/>
          </p:cNvCxnSpPr>
          <p:nvPr/>
        </p:nvCxnSpPr>
        <p:spPr>
          <a:xfrm flipH="1" flipV="1">
            <a:off x="6095999" y="2054860"/>
            <a:ext cx="3866242" cy="6677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D46FDD4-A977-4389-D09A-BA4B350AA7FA}"/>
              </a:ext>
            </a:extLst>
          </p:cNvPr>
          <p:cNvSpPr txBox="1"/>
          <p:nvPr/>
        </p:nvSpPr>
        <p:spPr>
          <a:xfrm>
            <a:off x="7097484" y="1267850"/>
            <a:ext cx="46699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UML Diagram (Cards)</a:t>
            </a:r>
          </a:p>
        </p:txBody>
      </p:sp>
    </p:spTree>
    <p:extLst>
      <p:ext uri="{BB962C8B-B14F-4D97-AF65-F5344CB8AC3E}">
        <p14:creationId xmlns:p14="http://schemas.microsoft.com/office/powerpoint/2010/main" val="3923604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72B843-354D-F841-59F9-AF02B975A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245364"/>
              </p:ext>
            </p:extLst>
          </p:nvPr>
        </p:nvGraphicFramePr>
        <p:xfrm>
          <a:off x="605973" y="1780540"/>
          <a:ext cx="3138714" cy="3296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8714">
                  <a:extLst>
                    <a:ext uri="{9D8B030D-6E8A-4147-A177-3AD203B41FA5}">
                      <a16:colId xmlns:a16="http://schemas.microsoft.com/office/drawing/2014/main" val="1448604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61760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</a:t>
                      </a:r>
                      <a:r>
                        <a:rPr lang="en-US" dirty="0" err="1"/>
                        <a:t>numCard</a:t>
                      </a:r>
                      <a:r>
                        <a:rPr lang="en-US" dirty="0"/>
                        <a:t>: int</a:t>
                      </a:r>
                    </a:p>
                    <a:p>
                      <a:r>
                        <a:rPr lang="en-US" dirty="0"/>
                        <a:t>+cards: vector&lt;Card*&gt;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playPile</a:t>
                      </a:r>
                      <a:r>
                        <a:rPr lang="en-US" dirty="0"/>
                        <a:t>: vector&lt;Card*&gt;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5832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public: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fillDeck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+shuffle():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startGame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drawTop</a:t>
                      </a:r>
                      <a:r>
                        <a:rPr lang="en-US" dirty="0"/>
                        <a:t>(): Card*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onPlay</a:t>
                      </a:r>
                      <a:r>
                        <a:rPr lang="en-US" dirty="0"/>
                        <a:t>(): bool</a:t>
                      </a:r>
                    </a:p>
                    <a:p>
                      <a:r>
                        <a:rPr lang="en-US" dirty="0"/>
                        <a:t>+~Deck()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4168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54FCB7-6619-0596-E630-4CCC5B389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337671"/>
              </p:ext>
            </p:extLst>
          </p:nvPr>
        </p:nvGraphicFramePr>
        <p:xfrm>
          <a:off x="7598227" y="1094740"/>
          <a:ext cx="3987800" cy="4668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7800">
                  <a:extLst>
                    <a:ext uri="{9D8B030D-6E8A-4147-A177-3AD203B41FA5}">
                      <a16:colId xmlns:a16="http://schemas.microsoft.com/office/drawing/2014/main" val="27109263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Player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61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-hand: vector&lt;Card*&gt;</a:t>
                      </a:r>
                    </a:p>
                    <a:p>
                      <a:r>
                        <a:rPr lang="en-US" dirty="0"/>
                        <a:t>-size: int</a:t>
                      </a:r>
                    </a:p>
                    <a:p>
                      <a:r>
                        <a:rPr lang="en-US" dirty="0"/>
                        <a:t>-</a:t>
                      </a:r>
                      <a:r>
                        <a:rPr lang="en-US" dirty="0" err="1"/>
                        <a:t>AiPlayer</a:t>
                      </a:r>
                      <a:r>
                        <a:rPr lang="en-US" dirty="0"/>
                        <a:t>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+</a:t>
                      </a:r>
                      <a:r>
                        <a:rPr lang="en-US" dirty="0" err="1"/>
                        <a:t>lastPlayedCard</a:t>
                      </a:r>
                      <a:r>
                        <a:rPr lang="en-US" dirty="0"/>
                        <a:t>: Card*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9326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getSize</a:t>
                      </a:r>
                      <a:r>
                        <a:rPr lang="en-US" dirty="0"/>
                        <a:t>() const: int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getHand</a:t>
                      </a:r>
                      <a:r>
                        <a:rPr lang="en-US" dirty="0"/>
                        <a:t>() const: vector&lt;Card*&gt;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getCard</a:t>
                      </a:r>
                      <a:r>
                        <a:rPr lang="en-US" dirty="0"/>
                        <a:t>() const: Card*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setAi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giveCard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decideCard</a:t>
                      </a:r>
                      <a:r>
                        <a:rPr lang="en-US" dirty="0"/>
                        <a:t>(): int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findCardType</a:t>
                      </a:r>
                      <a:r>
                        <a:rPr lang="en-US" dirty="0"/>
                        <a:t>(): bool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playCard</a:t>
                      </a:r>
                      <a:r>
                        <a:rPr lang="en-US" dirty="0"/>
                        <a:t>(): bool</a:t>
                      </a:r>
                    </a:p>
                    <a:p>
                      <a:r>
                        <a:rPr lang="en-US" dirty="0"/>
                        <a:t>+</a:t>
                      </a:r>
                      <a:r>
                        <a:rPr lang="en-US" dirty="0" err="1"/>
                        <a:t>playTurn</a:t>
                      </a:r>
                      <a:r>
                        <a:rPr lang="en-US" dirty="0"/>
                        <a:t>(): void</a:t>
                      </a:r>
                    </a:p>
                    <a:p>
                      <a:r>
                        <a:rPr lang="en-US" dirty="0"/>
                        <a:t>+~Player()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95184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C351D86-386E-38AE-6AA8-F02AEBEDE3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90673"/>
              </p:ext>
            </p:extLst>
          </p:nvPr>
        </p:nvGraphicFramePr>
        <p:xfrm>
          <a:off x="4983842" y="2872740"/>
          <a:ext cx="137522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229">
                  <a:extLst>
                    <a:ext uri="{9D8B030D-6E8A-4147-A177-3AD203B41FA5}">
                      <a16:colId xmlns:a16="http://schemas.microsoft.com/office/drawing/2014/main" val="1051035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Card*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5726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1151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983282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73E724-BE20-844D-C601-F9A04D8091A4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744687" y="3429000"/>
            <a:ext cx="12391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B97B031-25C4-822B-19E9-C0EDE65C1D3C}"/>
              </a:ext>
            </a:extLst>
          </p:cNvPr>
          <p:cNvSpPr/>
          <p:nvPr/>
        </p:nvSpPr>
        <p:spPr>
          <a:xfrm rot="2563552">
            <a:off x="3597730" y="3282043"/>
            <a:ext cx="293912" cy="29391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24CE52-02C4-0A8A-1095-FF2456B83AC5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6359071" y="3429000"/>
            <a:ext cx="123915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0598B12-41C2-47BE-3543-F284BD5FEF54}"/>
              </a:ext>
            </a:extLst>
          </p:cNvPr>
          <p:cNvSpPr/>
          <p:nvPr/>
        </p:nvSpPr>
        <p:spPr>
          <a:xfrm rot="2563552">
            <a:off x="7451271" y="3282043"/>
            <a:ext cx="293912" cy="293912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48CB32-B75E-7421-FA7E-2DB55CBD96C2}"/>
              </a:ext>
            </a:extLst>
          </p:cNvPr>
          <p:cNvSpPr txBox="1"/>
          <p:nvPr/>
        </p:nvSpPr>
        <p:spPr>
          <a:xfrm>
            <a:off x="4414299" y="3069716"/>
            <a:ext cx="61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0..1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2C5283-A9A2-5FB0-FE23-37F99A9E49BE}"/>
              </a:ext>
            </a:extLst>
          </p:cNvPr>
          <p:cNvSpPr txBox="1"/>
          <p:nvPr/>
        </p:nvSpPr>
        <p:spPr>
          <a:xfrm>
            <a:off x="6359071" y="3079765"/>
            <a:ext cx="61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0..1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E85993-817E-0B6B-04E6-795D135B0C2C}"/>
              </a:ext>
            </a:extLst>
          </p:cNvPr>
          <p:cNvSpPr txBox="1"/>
          <p:nvPr/>
        </p:nvSpPr>
        <p:spPr>
          <a:xfrm>
            <a:off x="6995263" y="3079765"/>
            <a:ext cx="61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0..*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F5B505-3BE0-E068-C345-9537F479BBEC}"/>
              </a:ext>
            </a:extLst>
          </p:cNvPr>
          <p:cNvSpPr txBox="1"/>
          <p:nvPr/>
        </p:nvSpPr>
        <p:spPr>
          <a:xfrm>
            <a:off x="3869286" y="3059667"/>
            <a:ext cx="611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0..*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3411B0-4111-A427-9FCF-218E51971321}"/>
              </a:ext>
            </a:extLst>
          </p:cNvPr>
          <p:cNvSpPr txBox="1"/>
          <p:nvPr/>
        </p:nvSpPr>
        <p:spPr>
          <a:xfrm>
            <a:off x="745547" y="659602"/>
            <a:ext cx="5998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UML Diagram (Aggregation)</a:t>
            </a:r>
          </a:p>
        </p:txBody>
      </p:sp>
    </p:spTree>
    <p:extLst>
      <p:ext uri="{BB962C8B-B14F-4D97-AF65-F5344CB8AC3E}">
        <p14:creationId xmlns:p14="http://schemas.microsoft.com/office/powerpoint/2010/main" val="96368247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94</TotalTime>
  <Words>283</Words>
  <Application>Microsoft Office PowerPoint</Application>
  <PresentationFormat>Widescreen</PresentationFormat>
  <Paragraphs>69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Century Gothic</vt:lpstr>
      <vt:lpstr>Vapor Trail</vt:lpstr>
      <vt:lpstr>Uno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Daly, Kaeden B.</dc:creator>
  <cp:lastModifiedBy>Daly, Kaeden B.</cp:lastModifiedBy>
  <cp:revision>1</cp:revision>
  <dcterms:created xsi:type="dcterms:W3CDTF">2025-11-16T22:33:44Z</dcterms:created>
  <dcterms:modified xsi:type="dcterms:W3CDTF">2025-11-17T00:08:35Z</dcterms:modified>
</cp:coreProperties>
</file>