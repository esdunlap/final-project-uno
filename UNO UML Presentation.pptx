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61" r:id="rId5"/>
    <p:sldId id="262" r:id="rId6"/>
    <p:sldId id="259" r:id="rId7"/>
    <p:sldId id="26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E66A053-A65F-4096-8491-0CB9C48FC35F}">
          <p14:sldIdLst>
            <p14:sldId id="256"/>
            <p14:sldId id="257"/>
            <p14:sldId id="258"/>
          </p14:sldIdLst>
        </p14:section>
        <p14:section name="Untitled Section" id="{CEF4DDA7-E0B9-4273-8F62-9739171F22D8}">
          <p14:sldIdLst>
            <p14:sldId id="261"/>
            <p14:sldId id="262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16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E7666388-F3A0-40CD-A7DD-91C8F31A830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1C48768-DA22-481B-AB27-60AC5FF5D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928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66388-F3A0-40CD-A7DD-91C8F31A830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48768-DA22-481B-AB27-60AC5FF5D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258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7666388-F3A0-40CD-A7DD-91C8F31A830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1C48768-DA22-481B-AB27-60AC5FF5D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4159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66388-F3A0-40CD-A7DD-91C8F31A830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48768-DA22-481B-AB27-60AC5FF5D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5041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66388-F3A0-40CD-A7DD-91C8F31A830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48768-DA22-481B-AB27-60AC5FF5D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934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66388-F3A0-40CD-A7DD-91C8F31A830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48768-DA22-481B-AB27-60AC5FF5D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0707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66388-F3A0-40CD-A7DD-91C8F31A830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48768-DA22-481B-AB27-60AC5FF5D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474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66388-F3A0-40CD-A7DD-91C8F31A830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48768-DA22-481B-AB27-60AC5FF5D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478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66388-F3A0-40CD-A7DD-91C8F31A830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48768-DA22-481B-AB27-60AC5FF5D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129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66388-F3A0-40CD-A7DD-91C8F31A830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48768-DA22-481B-AB27-60AC5FF5D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935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7666388-F3A0-40CD-A7DD-91C8F31A830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1C48768-DA22-481B-AB27-60AC5FF5D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7087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7666388-F3A0-40CD-A7DD-91C8F31A830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1C48768-DA22-481B-AB27-60AC5FF5D5FB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320032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7666388-F3A0-40CD-A7DD-91C8F31A830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1C48768-DA22-481B-AB27-60AC5FF5D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6375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66388-F3A0-40CD-A7DD-91C8F31A830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48768-DA22-481B-AB27-60AC5FF5D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7318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66388-F3A0-40CD-A7DD-91C8F31A830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48768-DA22-481B-AB27-60AC5FF5D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5664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66388-F3A0-40CD-A7DD-91C8F31A830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C48768-DA22-481B-AB27-60AC5FF5D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0709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E7666388-F3A0-40CD-A7DD-91C8F31A830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1C48768-DA22-481B-AB27-60AC5FF5D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62306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666388-F3A0-40CD-A7DD-91C8F31A8303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C48768-DA22-481B-AB27-60AC5FF5D5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4453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68668-1938-CFAE-5869-2748E74960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37038" y="1182919"/>
            <a:ext cx="6132990" cy="1825096"/>
          </a:xfrm>
        </p:spPr>
        <p:txBody>
          <a:bodyPr>
            <a:normAutofit/>
          </a:bodyPr>
          <a:lstStyle/>
          <a:p>
            <a:r>
              <a:rPr lang="en-US" dirty="0"/>
              <a:t>Uno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1CB752-5736-BBF9-DF9A-49EFBC0611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64352" y="3087915"/>
            <a:ext cx="6132990" cy="685800"/>
          </a:xfrm>
        </p:spPr>
        <p:txBody>
          <a:bodyPr>
            <a:normAutofit/>
          </a:bodyPr>
          <a:lstStyle/>
          <a:p>
            <a:r>
              <a:rPr lang="en-US" dirty="0"/>
              <a:t>By: Erik Dunlap and Kaeden Daly</a:t>
            </a:r>
          </a:p>
        </p:txBody>
      </p:sp>
      <p:pic>
        <p:nvPicPr>
          <p:cNvPr id="1030" name="Picture 6" descr="UNO (@realUNOgame) / Posts / X">
            <a:extLst>
              <a:ext uri="{FF2B5EF4-FFF2-40B4-BE49-F238E27FC236}">
                <a16:creationId xmlns:a16="http://schemas.microsoft.com/office/drawing/2014/main" id="{12F23133-5ECF-915A-0295-EFC5B276DE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" b="4"/>
          <a:stretch>
            <a:fillRect/>
          </a:stretch>
        </p:blipFill>
        <p:spPr bwMode="auto">
          <a:xfrm>
            <a:off x="1528745" y="1904998"/>
            <a:ext cx="2662321" cy="2662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7385FFA9-3B5A-63BE-8E7F-12370C5A528B}"/>
              </a:ext>
            </a:extLst>
          </p:cNvPr>
          <p:cNvSpPr txBox="1">
            <a:spLocks/>
          </p:cNvSpPr>
          <p:nvPr/>
        </p:nvSpPr>
        <p:spPr>
          <a:xfrm>
            <a:off x="4437038" y="1904998"/>
            <a:ext cx="1201761" cy="274320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UML</a:t>
            </a:r>
          </a:p>
        </p:txBody>
      </p:sp>
    </p:spTree>
    <p:extLst>
      <p:ext uri="{BB962C8B-B14F-4D97-AF65-F5344CB8AC3E}">
        <p14:creationId xmlns:p14="http://schemas.microsoft.com/office/powerpoint/2010/main" val="1993087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DE32F16-0180-DC2D-BF31-0ACCFAB390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1188217"/>
              </p:ext>
            </p:extLst>
          </p:nvPr>
        </p:nvGraphicFramePr>
        <p:xfrm>
          <a:off x="2079171" y="680720"/>
          <a:ext cx="4016828" cy="274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6828">
                  <a:extLst>
                    <a:ext uri="{9D8B030D-6E8A-4147-A177-3AD203B41FA5}">
                      <a16:colId xmlns:a16="http://schemas.microsoft.com/office/drawing/2014/main" val="92957152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2177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-rank: int</a:t>
                      </a:r>
                    </a:p>
                    <a:p>
                      <a:r>
                        <a:rPr lang="en-US" dirty="0"/>
                        <a:t>-suit: int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91516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fixWildSuit</a:t>
                      </a:r>
                      <a:r>
                        <a:rPr lang="en-US" dirty="0"/>
                        <a:t>(): void</a:t>
                      </a:r>
                    </a:p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getRank</a:t>
                      </a:r>
                      <a:r>
                        <a:rPr lang="en-US" dirty="0"/>
                        <a:t>() const: int</a:t>
                      </a:r>
                    </a:p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getSuit</a:t>
                      </a:r>
                      <a:r>
                        <a:rPr lang="en-US" dirty="0"/>
                        <a:t>() const: int</a:t>
                      </a:r>
                    </a:p>
                    <a:p>
                      <a:r>
                        <a:rPr lang="en-US" dirty="0"/>
                        <a:t>+virtual </a:t>
                      </a:r>
                      <a:r>
                        <a:rPr lang="en-US" dirty="0" err="1"/>
                        <a:t>changeWild</a:t>
                      </a:r>
                      <a:r>
                        <a:rPr lang="en-US" dirty="0"/>
                        <a:t>: void</a:t>
                      </a:r>
                    </a:p>
                    <a:p>
                      <a:r>
                        <a:rPr lang="en-US" dirty="0"/>
                        <a:t>+virtual </a:t>
                      </a:r>
                      <a:r>
                        <a:rPr lang="en-US" dirty="0" err="1"/>
                        <a:t>getPlus</a:t>
                      </a:r>
                      <a:r>
                        <a:rPr lang="en-US" dirty="0"/>
                        <a:t>() const: bool</a:t>
                      </a:r>
                    </a:p>
                    <a:p>
                      <a:r>
                        <a:rPr lang="en-US" dirty="0"/>
                        <a:t>+virtual </a:t>
                      </a:r>
                      <a:r>
                        <a:rPr lang="en-US" dirty="0" err="1"/>
                        <a:t>getFileName</a:t>
                      </a:r>
                      <a:r>
                        <a:rPr lang="en-US" dirty="0"/>
                        <a:t>() const: string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8348959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B4E9B59-2997-37DB-837C-74C04CA30F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4332883"/>
              </p:ext>
            </p:extLst>
          </p:nvPr>
        </p:nvGraphicFramePr>
        <p:xfrm>
          <a:off x="366485" y="4462661"/>
          <a:ext cx="3726543" cy="220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6543">
                  <a:extLst>
                    <a:ext uri="{9D8B030D-6E8A-4147-A177-3AD203B41FA5}">
                      <a16:colId xmlns:a16="http://schemas.microsoft.com/office/drawing/2014/main" val="12402569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BasicCard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0811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-plus: bool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201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BasicCard</a:t>
                      </a:r>
                      <a:r>
                        <a:rPr lang="en-US" dirty="0"/>
                        <a:t>()</a:t>
                      </a:r>
                    </a:p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BasicCard</a:t>
                      </a:r>
                      <a:r>
                        <a:rPr lang="en-US" dirty="0"/>
                        <a:t>()</a:t>
                      </a:r>
                    </a:p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getPlus</a:t>
                      </a:r>
                      <a:r>
                        <a:rPr lang="en-US" dirty="0"/>
                        <a:t>() const: bool</a:t>
                      </a:r>
                    </a:p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getFileName</a:t>
                      </a:r>
                      <a:r>
                        <a:rPr lang="en-US" dirty="0"/>
                        <a:t>() const: string</a:t>
                      </a:r>
                    </a:p>
                    <a:p>
                      <a:r>
                        <a:rPr lang="en-US" dirty="0"/>
                        <a:t>+friend operator&lt;&lt;(): </a:t>
                      </a:r>
                      <a:r>
                        <a:rPr lang="en-US" dirty="0" err="1"/>
                        <a:t>ostream</a:t>
                      </a:r>
                      <a:r>
                        <a:rPr lang="en-US" dirty="0"/>
                        <a:t>&amp;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24592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7FACB1E-C3B9-EFED-4800-94C4CEB284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9000763"/>
              </p:ext>
            </p:extLst>
          </p:nvPr>
        </p:nvGraphicFramePr>
        <p:xfrm>
          <a:off x="4232728" y="4462661"/>
          <a:ext cx="3726543" cy="220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6543">
                  <a:extLst>
                    <a:ext uri="{9D8B030D-6E8A-4147-A177-3AD203B41FA5}">
                      <a16:colId xmlns:a16="http://schemas.microsoft.com/office/drawing/2014/main" val="12402569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WildCard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0811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-plus: bool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201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WildCard</a:t>
                      </a:r>
                      <a:r>
                        <a:rPr lang="en-US" dirty="0"/>
                        <a:t>()</a:t>
                      </a:r>
                    </a:p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changeWild</a:t>
                      </a:r>
                      <a:r>
                        <a:rPr lang="en-US" dirty="0"/>
                        <a:t>(): void</a:t>
                      </a:r>
                    </a:p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getPlus</a:t>
                      </a:r>
                      <a:r>
                        <a:rPr lang="en-US" dirty="0"/>
                        <a:t>() const: bool</a:t>
                      </a:r>
                    </a:p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getFileName</a:t>
                      </a:r>
                      <a:r>
                        <a:rPr lang="en-US" dirty="0"/>
                        <a:t>() const: string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+friend operator&lt;&lt;(): </a:t>
                      </a:r>
                      <a:r>
                        <a:rPr lang="en-US" dirty="0" err="1"/>
                        <a:t>ostream</a:t>
                      </a:r>
                      <a:r>
                        <a:rPr lang="en-US" dirty="0"/>
                        <a:t>&amp;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24592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F0F416F-0420-B0EC-709D-3C72AA6E22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1009921"/>
              </p:ext>
            </p:extLst>
          </p:nvPr>
        </p:nvGraphicFramePr>
        <p:xfrm>
          <a:off x="8098970" y="2722637"/>
          <a:ext cx="3726543" cy="165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6543">
                  <a:extLst>
                    <a:ext uri="{9D8B030D-6E8A-4147-A177-3AD203B41FA5}">
                      <a16:colId xmlns:a16="http://schemas.microsoft.com/office/drawing/2014/main" val="12402569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ReverseCard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0811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201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ReverseCard</a:t>
                      </a:r>
                      <a:r>
                        <a:rPr lang="en-US" dirty="0"/>
                        <a:t>()</a:t>
                      </a:r>
                    </a:p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getFileName</a:t>
                      </a:r>
                      <a:r>
                        <a:rPr lang="en-US" dirty="0"/>
                        <a:t>() const: string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+friend operator&lt;&lt;(): </a:t>
                      </a:r>
                      <a:r>
                        <a:rPr lang="en-US" dirty="0" err="1"/>
                        <a:t>ostream</a:t>
                      </a:r>
                      <a:r>
                        <a:rPr lang="en-US" dirty="0"/>
                        <a:t>&amp;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24592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B01867E-3FF7-FC31-F2C2-284BEE250D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1853557"/>
              </p:ext>
            </p:extLst>
          </p:nvPr>
        </p:nvGraphicFramePr>
        <p:xfrm>
          <a:off x="8098971" y="4462661"/>
          <a:ext cx="3726543" cy="165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26543">
                  <a:extLst>
                    <a:ext uri="{9D8B030D-6E8A-4147-A177-3AD203B41FA5}">
                      <a16:colId xmlns:a16="http://schemas.microsoft.com/office/drawing/2014/main" val="12402569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SkipCard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08115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62018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SkipCard</a:t>
                      </a:r>
                      <a:r>
                        <a:rPr lang="en-US" dirty="0"/>
                        <a:t>()</a:t>
                      </a:r>
                    </a:p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getFileName</a:t>
                      </a:r>
                      <a:r>
                        <a:rPr lang="en-US" dirty="0"/>
                        <a:t>() const: string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+friend operator&lt;&lt;(): </a:t>
                      </a:r>
                      <a:r>
                        <a:rPr lang="en-US" dirty="0" err="1"/>
                        <a:t>ostream</a:t>
                      </a:r>
                      <a:r>
                        <a:rPr lang="en-US" dirty="0"/>
                        <a:t>&amp;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624592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D2B5285-7217-2228-0995-562DE1A5E300}"/>
              </a:ext>
            </a:extLst>
          </p:cNvPr>
          <p:cNvCxnSpPr>
            <a:endCxn id="4" idx="2"/>
          </p:cNvCxnSpPr>
          <p:nvPr/>
        </p:nvCxnSpPr>
        <p:spPr>
          <a:xfrm flipV="1">
            <a:off x="2369456" y="3429000"/>
            <a:ext cx="1718129" cy="1033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CF79ED9-DAE4-C223-F4C9-11213530212F}"/>
              </a:ext>
            </a:extLst>
          </p:cNvPr>
          <p:cNvCxnSpPr>
            <a:cxnSpLocks/>
            <a:endCxn id="4" idx="2"/>
          </p:cNvCxnSpPr>
          <p:nvPr/>
        </p:nvCxnSpPr>
        <p:spPr>
          <a:xfrm flipH="1" flipV="1">
            <a:off x="4087585" y="3429000"/>
            <a:ext cx="2008414" cy="103366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F339731-345E-C7D6-DE09-9CF2851DB819}"/>
              </a:ext>
            </a:extLst>
          </p:cNvPr>
          <p:cNvCxnSpPr>
            <a:cxnSpLocks/>
            <a:endCxn id="4" idx="3"/>
          </p:cNvCxnSpPr>
          <p:nvPr/>
        </p:nvCxnSpPr>
        <p:spPr>
          <a:xfrm flipH="1" flipV="1">
            <a:off x="6095999" y="2054860"/>
            <a:ext cx="2002971" cy="240780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C84E619-E62D-DD15-5C15-0D70F523FB32}"/>
              </a:ext>
            </a:extLst>
          </p:cNvPr>
          <p:cNvCxnSpPr>
            <a:cxnSpLocks/>
            <a:stCxn id="7" idx="0"/>
            <a:endCxn id="4" idx="3"/>
          </p:cNvCxnSpPr>
          <p:nvPr/>
        </p:nvCxnSpPr>
        <p:spPr>
          <a:xfrm flipH="1" flipV="1">
            <a:off x="6095999" y="2054860"/>
            <a:ext cx="3866242" cy="66777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D46FDD4-A977-4389-D09A-BA4B350AA7FA}"/>
              </a:ext>
            </a:extLst>
          </p:cNvPr>
          <p:cNvSpPr txBox="1"/>
          <p:nvPr/>
        </p:nvSpPr>
        <p:spPr>
          <a:xfrm>
            <a:off x="7097484" y="1267850"/>
            <a:ext cx="46699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UML Diagram (Cards)</a:t>
            </a:r>
          </a:p>
        </p:txBody>
      </p:sp>
    </p:spTree>
    <p:extLst>
      <p:ext uri="{BB962C8B-B14F-4D97-AF65-F5344CB8AC3E}">
        <p14:creationId xmlns:p14="http://schemas.microsoft.com/office/powerpoint/2010/main" val="3923604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272B843-354D-F841-59F9-AF02B975A3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7245364"/>
              </p:ext>
            </p:extLst>
          </p:nvPr>
        </p:nvGraphicFramePr>
        <p:xfrm>
          <a:off x="605973" y="1780540"/>
          <a:ext cx="3138714" cy="3296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8714">
                  <a:extLst>
                    <a:ext uri="{9D8B030D-6E8A-4147-A177-3AD203B41FA5}">
                      <a16:colId xmlns:a16="http://schemas.microsoft.com/office/drawing/2014/main" val="144860446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Deck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176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  <a:r>
                        <a:rPr lang="en-US" dirty="0" err="1"/>
                        <a:t>numCard</a:t>
                      </a:r>
                      <a:r>
                        <a:rPr lang="en-US" dirty="0"/>
                        <a:t>: int</a:t>
                      </a:r>
                    </a:p>
                    <a:p>
                      <a:r>
                        <a:rPr lang="en-US" dirty="0"/>
                        <a:t>+cards: vector&lt;Card*&gt;</a:t>
                      </a:r>
                    </a:p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playPile</a:t>
                      </a:r>
                      <a:r>
                        <a:rPr lang="en-US" dirty="0"/>
                        <a:t>: vector&lt;Card*&gt;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58325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public:</a:t>
                      </a:r>
                    </a:p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fillDeck</a:t>
                      </a:r>
                      <a:r>
                        <a:rPr lang="en-US" dirty="0"/>
                        <a:t>(): void</a:t>
                      </a:r>
                    </a:p>
                    <a:p>
                      <a:r>
                        <a:rPr lang="en-US" dirty="0"/>
                        <a:t>+shuffle(): void</a:t>
                      </a:r>
                    </a:p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startGame</a:t>
                      </a:r>
                      <a:r>
                        <a:rPr lang="en-US" dirty="0"/>
                        <a:t>(): void</a:t>
                      </a:r>
                    </a:p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drawTop</a:t>
                      </a:r>
                      <a:r>
                        <a:rPr lang="en-US" dirty="0"/>
                        <a:t>(): Card*</a:t>
                      </a:r>
                    </a:p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onPlay</a:t>
                      </a:r>
                      <a:r>
                        <a:rPr lang="en-US" dirty="0"/>
                        <a:t>(): bool</a:t>
                      </a:r>
                    </a:p>
                    <a:p>
                      <a:r>
                        <a:rPr lang="en-US" dirty="0"/>
                        <a:t>+~Deck()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541687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454FCB7-6619-0596-E630-4CCC5B3898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3337671"/>
              </p:ext>
            </p:extLst>
          </p:nvPr>
        </p:nvGraphicFramePr>
        <p:xfrm>
          <a:off x="7598227" y="1094740"/>
          <a:ext cx="3987800" cy="4668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87800">
                  <a:extLst>
                    <a:ext uri="{9D8B030D-6E8A-4147-A177-3AD203B41FA5}">
                      <a16:colId xmlns:a16="http://schemas.microsoft.com/office/drawing/2014/main" val="27109263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Player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0615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-hand: vector&lt;Card*&gt;</a:t>
                      </a:r>
                    </a:p>
                    <a:p>
                      <a:r>
                        <a:rPr lang="en-US" dirty="0"/>
                        <a:t>-size: int</a:t>
                      </a:r>
                    </a:p>
                    <a:p>
                      <a:r>
                        <a:rPr lang="en-US" dirty="0"/>
                        <a:t>-</a:t>
                      </a:r>
                      <a:r>
                        <a:rPr lang="en-US" dirty="0" err="1"/>
                        <a:t>AiPlayer</a:t>
                      </a:r>
                      <a:r>
                        <a:rPr lang="en-US" dirty="0"/>
                        <a:t>: bool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+</a:t>
                      </a:r>
                      <a:r>
                        <a:rPr lang="en-US" dirty="0" err="1"/>
                        <a:t>lastPlayedCard</a:t>
                      </a:r>
                      <a:r>
                        <a:rPr lang="en-US" dirty="0"/>
                        <a:t>: Card*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9326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getSize</a:t>
                      </a:r>
                      <a:r>
                        <a:rPr lang="en-US" dirty="0"/>
                        <a:t>() const: int</a:t>
                      </a:r>
                    </a:p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getHand</a:t>
                      </a:r>
                      <a:r>
                        <a:rPr lang="en-US" dirty="0"/>
                        <a:t>() const: vector&lt;Card*&gt;</a:t>
                      </a:r>
                    </a:p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getCard</a:t>
                      </a:r>
                      <a:r>
                        <a:rPr lang="en-US" dirty="0"/>
                        <a:t>() const: Card*</a:t>
                      </a:r>
                    </a:p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setAi</a:t>
                      </a:r>
                      <a:r>
                        <a:rPr lang="en-US" dirty="0"/>
                        <a:t>(): void</a:t>
                      </a:r>
                    </a:p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giveCard</a:t>
                      </a:r>
                      <a:r>
                        <a:rPr lang="en-US" dirty="0"/>
                        <a:t>(): void</a:t>
                      </a:r>
                    </a:p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decideCard</a:t>
                      </a:r>
                      <a:r>
                        <a:rPr lang="en-US" dirty="0"/>
                        <a:t>(): int</a:t>
                      </a:r>
                    </a:p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findCardType</a:t>
                      </a:r>
                      <a:r>
                        <a:rPr lang="en-US" dirty="0"/>
                        <a:t>(): bool</a:t>
                      </a:r>
                    </a:p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playCard</a:t>
                      </a:r>
                      <a:r>
                        <a:rPr lang="en-US" dirty="0"/>
                        <a:t>(): bool</a:t>
                      </a:r>
                    </a:p>
                    <a:p>
                      <a:r>
                        <a:rPr lang="en-US" dirty="0"/>
                        <a:t>+</a:t>
                      </a:r>
                      <a:r>
                        <a:rPr lang="en-US" dirty="0" err="1"/>
                        <a:t>playTurn</a:t>
                      </a:r>
                      <a:r>
                        <a:rPr lang="en-US" dirty="0"/>
                        <a:t>(): void</a:t>
                      </a:r>
                    </a:p>
                    <a:p>
                      <a:r>
                        <a:rPr lang="en-US" dirty="0"/>
                        <a:t>+~Player()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2951847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C351D86-386E-38AE-6AA8-F02AEBEDE3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44190673"/>
              </p:ext>
            </p:extLst>
          </p:nvPr>
        </p:nvGraphicFramePr>
        <p:xfrm>
          <a:off x="4983842" y="2872740"/>
          <a:ext cx="1375229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5229">
                  <a:extLst>
                    <a:ext uri="{9D8B030D-6E8A-4147-A177-3AD203B41FA5}">
                      <a16:colId xmlns:a16="http://schemas.microsoft.com/office/drawing/2014/main" val="105103564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Card*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57262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4115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9983282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A73E724-BE20-844D-C601-F9A04D8091A4}"/>
              </a:ext>
            </a:extLst>
          </p:cNvPr>
          <p:cNvCxnSpPr>
            <a:cxnSpLocks/>
            <a:stCxn id="4" idx="3"/>
            <a:endCxn id="7" idx="1"/>
          </p:cNvCxnSpPr>
          <p:nvPr/>
        </p:nvCxnSpPr>
        <p:spPr>
          <a:xfrm>
            <a:off x="3744687" y="3429000"/>
            <a:ext cx="123915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5B97B031-25C4-822B-19E9-C0EDE65C1D3C}"/>
              </a:ext>
            </a:extLst>
          </p:cNvPr>
          <p:cNvSpPr/>
          <p:nvPr/>
        </p:nvSpPr>
        <p:spPr>
          <a:xfrm rot="2563552">
            <a:off x="3597730" y="3282043"/>
            <a:ext cx="293912" cy="29391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424CE52-02C4-0A8A-1095-FF2456B83AC5}"/>
              </a:ext>
            </a:extLst>
          </p:cNvPr>
          <p:cNvCxnSpPr>
            <a:cxnSpLocks/>
            <a:stCxn id="5" idx="1"/>
            <a:endCxn id="7" idx="3"/>
          </p:cNvCxnSpPr>
          <p:nvPr/>
        </p:nvCxnSpPr>
        <p:spPr>
          <a:xfrm flipH="1">
            <a:off x="6359071" y="3429000"/>
            <a:ext cx="123915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D0598B12-41C2-47BE-3543-F284BD5FEF54}"/>
              </a:ext>
            </a:extLst>
          </p:cNvPr>
          <p:cNvSpPr/>
          <p:nvPr/>
        </p:nvSpPr>
        <p:spPr>
          <a:xfrm rot="2563552">
            <a:off x="7451271" y="3282043"/>
            <a:ext cx="293912" cy="29391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48CB32-B75E-7421-FA7E-2DB55CBD96C2}"/>
              </a:ext>
            </a:extLst>
          </p:cNvPr>
          <p:cNvSpPr txBox="1"/>
          <p:nvPr/>
        </p:nvSpPr>
        <p:spPr>
          <a:xfrm>
            <a:off x="4414299" y="3069716"/>
            <a:ext cx="611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0..1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22C5283-A9A2-5FB0-FE23-37F99A9E49BE}"/>
              </a:ext>
            </a:extLst>
          </p:cNvPr>
          <p:cNvSpPr txBox="1"/>
          <p:nvPr/>
        </p:nvSpPr>
        <p:spPr>
          <a:xfrm>
            <a:off x="6359071" y="3079765"/>
            <a:ext cx="611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0..1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9E85993-817E-0B6B-04E6-795D135B0C2C}"/>
              </a:ext>
            </a:extLst>
          </p:cNvPr>
          <p:cNvSpPr txBox="1"/>
          <p:nvPr/>
        </p:nvSpPr>
        <p:spPr>
          <a:xfrm>
            <a:off x="6995263" y="3079765"/>
            <a:ext cx="611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0..*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CF5B505-3BE0-E068-C345-9537F479BBEC}"/>
              </a:ext>
            </a:extLst>
          </p:cNvPr>
          <p:cNvSpPr txBox="1"/>
          <p:nvPr/>
        </p:nvSpPr>
        <p:spPr>
          <a:xfrm>
            <a:off x="3869286" y="3059667"/>
            <a:ext cx="611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0..*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33411B0-4111-A427-9FCF-218E51971321}"/>
              </a:ext>
            </a:extLst>
          </p:cNvPr>
          <p:cNvSpPr txBox="1"/>
          <p:nvPr/>
        </p:nvSpPr>
        <p:spPr>
          <a:xfrm>
            <a:off x="745547" y="659602"/>
            <a:ext cx="59982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UML Diagram (Aggregation)</a:t>
            </a:r>
          </a:p>
        </p:txBody>
      </p:sp>
    </p:spTree>
    <p:extLst>
      <p:ext uri="{BB962C8B-B14F-4D97-AF65-F5344CB8AC3E}">
        <p14:creationId xmlns:p14="http://schemas.microsoft.com/office/powerpoint/2010/main" val="963682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4ED15-D2C7-E6CB-5743-2C0E2C97D6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4308" y="754144"/>
            <a:ext cx="3483381" cy="585112"/>
          </a:xfrm>
        </p:spPr>
        <p:txBody>
          <a:bodyPr/>
          <a:lstStyle/>
          <a:p>
            <a:r>
              <a:rPr lang="en-US" dirty="0"/>
              <a:t>Deck Creation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D35064-C759-1F26-D54A-1D06BBE00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328" y="3429000"/>
            <a:ext cx="4877481" cy="25054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2797CFD-8BF1-593B-A712-13C3FEB42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1435" y="1982460"/>
            <a:ext cx="3809129" cy="109833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AC397BA-555F-A632-42BF-97C7571A29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4376" y="3315758"/>
            <a:ext cx="4220164" cy="16290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B7B775A-BF2C-18FC-F797-CB0E4190D8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4376" y="5354426"/>
            <a:ext cx="4162550" cy="84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7030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EA0F8DFA-1954-C312-F0BA-740DD20D70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45738" y="142362"/>
            <a:ext cx="10130516" cy="999067"/>
          </a:xfrm>
        </p:spPr>
        <p:txBody>
          <a:bodyPr>
            <a:normAutofit/>
          </a:bodyPr>
          <a:lstStyle/>
          <a:p>
            <a:r>
              <a:rPr lang="en-US" sz="5400" dirty="0"/>
              <a:t>Average Player Turn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668A080-141E-6CB9-4C33-FB284148CC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639" y="2088347"/>
            <a:ext cx="3524742" cy="400105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F8947067-D6C8-9705-AEE2-7DD4E7ED43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1949" y="2088347"/>
            <a:ext cx="4727143" cy="1911283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824BC82-12E6-DBF2-E363-1FFED60262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7421" y="4428345"/>
            <a:ext cx="5076200" cy="1661060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E18F6F4E-AE8A-F2A2-D161-0E1B81D29102}"/>
              </a:ext>
            </a:extLst>
          </p:cNvPr>
          <p:cNvSpPr txBox="1"/>
          <p:nvPr/>
        </p:nvSpPr>
        <p:spPr>
          <a:xfrm>
            <a:off x="1376046" y="1291722"/>
            <a:ext cx="17099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Checking For Skipped Turns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280ACCC-D47E-A019-CA3E-291496510962}"/>
              </a:ext>
            </a:extLst>
          </p:cNvPr>
          <p:cNvSpPr txBox="1"/>
          <p:nvPr/>
        </p:nvSpPr>
        <p:spPr>
          <a:xfrm>
            <a:off x="4471285" y="2505670"/>
            <a:ext cx="18514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Getting which card a player wants to play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44F11BB5-241B-6547-1DF1-50FD3FBCDD95}"/>
              </a:ext>
            </a:extLst>
          </p:cNvPr>
          <p:cNvSpPr txBox="1"/>
          <p:nvPr/>
        </p:nvSpPr>
        <p:spPr>
          <a:xfrm>
            <a:off x="4471285" y="4793241"/>
            <a:ext cx="177275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Checking the validity of the chosen card</a:t>
            </a:r>
          </a:p>
        </p:txBody>
      </p:sp>
    </p:spTree>
    <p:extLst>
      <p:ext uri="{BB962C8B-B14F-4D97-AF65-F5344CB8AC3E}">
        <p14:creationId xmlns:p14="http://schemas.microsoft.com/office/powerpoint/2010/main" val="517959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4BAEB3-4483-C6D8-E215-90C8565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170" y="848830"/>
            <a:ext cx="4373703" cy="906818"/>
          </a:xfrm>
        </p:spPr>
        <p:txBody>
          <a:bodyPr>
            <a:normAutofit/>
          </a:bodyPr>
          <a:lstStyle/>
          <a:p>
            <a:r>
              <a:rPr lang="en-US" sz="2800" dirty="0"/>
              <a:t>Creating the AI’s Card choice with a priority list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91A6C78-56CE-E101-25D9-BE9561C1A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7475" y="848830"/>
            <a:ext cx="4373703" cy="516034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D723925-97D3-C450-7758-6CB5324E7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241" y="2846907"/>
            <a:ext cx="5182323" cy="51442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8F7CAAA-0AEF-88D6-DCB7-FB07248D24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8386" y="4011093"/>
            <a:ext cx="3715268" cy="1066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34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140F3-4DCD-33BF-EB25-117E49FDDF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438912"/>
            <a:ext cx="2212848" cy="545592"/>
          </a:xfrm>
        </p:spPr>
        <p:txBody>
          <a:bodyPr/>
          <a:lstStyle/>
          <a:p>
            <a:r>
              <a:rPr lang="en-US" dirty="0"/>
              <a:t>Artwork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A415FE-8624-CE70-36D8-DF75DB4A38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46" y="1136497"/>
            <a:ext cx="9924308" cy="182116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4047650-32EE-BA61-747A-E40EA6747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627" y="3109652"/>
            <a:ext cx="3541188" cy="358840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B51D793-323D-C86F-B463-C4F451E6D4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91585" y="3399242"/>
            <a:ext cx="1876687" cy="301984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9BD674A4-923D-1CEF-16E2-04046414063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3042" y="3865484"/>
            <a:ext cx="5553850" cy="2076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506843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133</TotalTime>
  <Words>317</Words>
  <Application>Microsoft Office PowerPoint</Application>
  <PresentationFormat>Widescreen</PresentationFormat>
  <Paragraphs>76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Century Gothic</vt:lpstr>
      <vt:lpstr>Vapor Trail</vt:lpstr>
      <vt:lpstr>Uno</vt:lpstr>
      <vt:lpstr>PowerPoint Presentation</vt:lpstr>
      <vt:lpstr>PowerPoint Presentation</vt:lpstr>
      <vt:lpstr>Deck Creation</vt:lpstr>
      <vt:lpstr>PowerPoint Presentation</vt:lpstr>
      <vt:lpstr>PowerPoint Presentation</vt:lpstr>
      <vt:lpstr>Artwork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Uno</dc:title>
  <dc:creator>Daly, Kaeden B.</dc:creator>
  <cp:lastModifiedBy>Dunlap, Erik S.</cp:lastModifiedBy>
  <cp:revision>3</cp:revision>
  <dcterms:created xsi:type="dcterms:W3CDTF">2025-11-16T22:33:44Z</dcterms:created>
  <dcterms:modified xsi:type="dcterms:W3CDTF">2025-11-17T06:07:47Z</dcterms:modified>
</cp:coreProperties>
</file>